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Gagalin" charset="1" panose="00000500000000000000"/>
      <p:regular r:id="rId17"/>
    </p:embeddedFont>
    <p:embeddedFont>
      <p:font typeface="Gotham" charset="1" panose="00000000000000000000"/>
      <p:regular r:id="rId18"/>
    </p:embeddedFont>
    <p:embeddedFont>
      <p:font typeface="Gotham Bold" charset="1" panose="00000000000000000000"/>
      <p:regular r:id="rId19"/>
    </p:embeddedFont>
    <p:embeddedFont>
      <p:font typeface="Gotham Bold Italics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1796" y="-541995"/>
            <a:ext cx="7206204" cy="10828995"/>
          </a:xfrm>
          <a:custGeom>
            <a:avLst/>
            <a:gdLst/>
            <a:ahLst/>
            <a:cxnLst/>
            <a:rect r="r" b="b" t="t" l="l"/>
            <a:pathLst>
              <a:path h="10828995" w="7206204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7467356" y="7898617"/>
            <a:ext cx="4721634" cy="134369"/>
            <a:chOff x="0" y="0"/>
            <a:chExt cx="1243558" cy="353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3558" cy="35389"/>
            </a:xfrm>
            <a:custGeom>
              <a:avLst/>
              <a:gdLst/>
              <a:ahLst/>
              <a:cxnLst/>
              <a:rect r="r" b="b" t="t" l="l"/>
              <a:pathLst>
                <a:path h="35389" w="1243558">
                  <a:moveTo>
                    <a:pt x="0" y="0"/>
                  </a:moveTo>
                  <a:lnTo>
                    <a:pt x="1243558" y="0"/>
                  </a:lnTo>
                  <a:lnTo>
                    <a:pt x="1243558" y="35389"/>
                  </a:lnTo>
                  <a:lnTo>
                    <a:pt x="0" y="35389"/>
                  </a:lnTo>
                  <a:close/>
                </a:path>
              </a:pathLst>
            </a:custGeom>
            <a:solidFill>
              <a:srgbClr val="F7E7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43558" cy="73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41921" y="4668542"/>
            <a:ext cx="9126655" cy="116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9118" spc="-45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6828" y="4030279"/>
            <a:ext cx="7332162" cy="393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48"/>
              </a:lnSpc>
            </a:pPr>
          </a:p>
          <a:p>
            <a:pPr algn="ctr">
              <a:lnSpc>
                <a:spcPts val="16960"/>
              </a:lnSpc>
              <a:spcBef>
                <a:spcPct val="0"/>
              </a:spcBef>
            </a:pPr>
            <a:r>
              <a:rPr lang="en-US" sz="12114">
                <a:solidFill>
                  <a:srgbClr val="F7E7D7"/>
                </a:solidFill>
                <a:latin typeface="Gagalin"/>
                <a:ea typeface="Gagalin"/>
                <a:cs typeface="Gagalin"/>
                <a:sym typeface="Gagalin"/>
              </a:rPr>
              <a:t>CartaGate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8604" cy="501984"/>
            </a:xfrm>
            <a:custGeom>
              <a:avLst/>
              <a:gdLst/>
              <a:ahLst/>
              <a:cxnLst/>
              <a:rect r="r" b="b" t="t" l="l"/>
              <a:pathLst>
                <a:path h="501984" w="278860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81796" y="-541995"/>
            <a:ext cx="7206204" cy="10828995"/>
          </a:xfrm>
          <a:custGeom>
            <a:avLst/>
            <a:gdLst/>
            <a:ahLst/>
            <a:cxnLst/>
            <a:rect r="r" b="b" t="t" l="l"/>
            <a:pathLst>
              <a:path h="10828995" w="7206204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9741" y="1530351"/>
            <a:ext cx="6258584" cy="681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Introduction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roblématique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olution proposée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Architecture &amp; W</a:t>
            </a: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orkflow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Do</a:t>
            </a: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nnées &amp; Technologies IA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Rés</a:t>
            </a: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ultats attendus</a:t>
            </a:r>
          </a:p>
          <a:p>
            <a:pPr algn="l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13662" y="1549401"/>
            <a:ext cx="776617" cy="681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</a:p>
          <a:p>
            <a:pPr algn="r">
              <a:lnSpc>
                <a:spcPts val="7840"/>
              </a:lnSpc>
            </a:pPr>
            <a:r>
              <a:rPr lang="en-US" sz="3200" spc="-64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</a:p>
        </p:txBody>
      </p:sp>
      <p:sp>
        <p:nvSpPr>
          <p:cNvPr name="AutoShape 8" id="8"/>
          <p:cNvSpPr/>
          <p:nvPr/>
        </p:nvSpPr>
        <p:spPr>
          <a:xfrm>
            <a:off x="2909741" y="2641876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909741" y="3663055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909741" y="4682230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909741" y="5703409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909741" y="6674959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2909741" y="7686612"/>
            <a:ext cx="9480537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-5400000">
            <a:off x="-2136800" y="4497386"/>
            <a:ext cx="7708544" cy="129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10100" spc="-505">
                <a:solidFill>
                  <a:srgbClr val="FAF2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573" y="2077280"/>
            <a:ext cx="737859" cy="65267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9947860" cy="1312616"/>
            <a:chOff x="0" y="0"/>
            <a:chExt cx="5253757" cy="3457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53758" cy="345710"/>
            </a:xfrm>
            <a:custGeom>
              <a:avLst/>
              <a:gdLst/>
              <a:ahLst/>
              <a:cxnLst/>
              <a:rect r="r" b="b" t="t" l="l"/>
              <a:pathLst>
                <a:path h="345710" w="5253758">
                  <a:moveTo>
                    <a:pt x="0" y="0"/>
                  </a:moveTo>
                  <a:lnTo>
                    <a:pt x="5253758" y="0"/>
                  </a:lnTo>
                  <a:lnTo>
                    <a:pt x="5253758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53757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579450" y="3206394"/>
            <a:ext cx="7413753" cy="4951971"/>
          </a:xfrm>
          <a:custGeom>
            <a:avLst/>
            <a:gdLst/>
            <a:ahLst/>
            <a:cxnLst/>
            <a:rect r="r" b="b" t="t" l="l"/>
            <a:pathLst>
              <a:path h="4951971" w="7413753">
                <a:moveTo>
                  <a:pt x="0" y="0"/>
                </a:moveTo>
                <a:lnTo>
                  <a:pt x="7413753" y="0"/>
                </a:lnTo>
                <a:lnTo>
                  <a:pt x="7413753" y="4951971"/>
                </a:lnTo>
                <a:lnTo>
                  <a:pt x="0" y="4951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00771"/>
            <a:ext cx="13608909" cy="45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2345" spc="2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  <a:r>
              <a:rPr lang="en-US" sz="2345" spc="21" b="true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85 milliards</a:t>
            </a:r>
            <a:r>
              <a:rPr lang="en-US" sz="2345" spc="2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. C'est le nombre estimé de colis ayant circulé dans le monde en 2024 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375" y="1472538"/>
            <a:ext cx="3740762" cy="46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</a:pPr>
            <a:r>
              <a:rPr lang="en-US" sz="3143" spc="-62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8004" y="1472538"/>
            <a:ext cx="378677" cy="46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</a:pPr>
            <a:r>
              <a:rPr lang="en-US" sz="3143" spc="-62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644140"/>
            <a:ext cx="17980347" cy="103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2"/>
              </a:lnSpc>
            </a:pPr>
            <a:r>
              <a:rPr lang="en-US" b="true" sz="2645" i="true" spc="24" u="sng">
                <a:solidFill>
                  <a:srgbClr val="002250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 Comment détecter une fraude lorsque des milliards de petits flux semblent normaux pris individuellement 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743" y="2363339"/>
            <a:ext cx="915323" cy="80965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84032" y="1337470"/>
            <a:ext cx="1111965" cy="1113674"/>
          </a:xfrm>
          <a:custGeom>
            <a:avLst/>
            <a:gdLst/>
            <a:ahLst/>
            <a:cxnLst/>
            <a:rect r="r" b="b" t="t" l="l"/>
            <a:pathLst>
              <a:path h="1113674" w="1111965">
                <a:moveTo>
                  <a:pt x="0" y="0"/>
                </a:moveTo>
                <a:lnTo>
                  <a:pt x="1111965" y="0"/>
                </a:lnTo>
                <a:lnTo>
                  <a:pt x="1111965" y="1113674"/>
                </a:lnTo>
                <a:lnTo>
                  <a:pt x="0" y="111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721765" cy="1312616"/>
            <a:chOff x="0" y="0"/>
            <a:chExt cx="4930835" cy="3457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0835" cy="345710"/>
            </a:xfrm>
            <a:custGeom>
              <a:avLst/>
              <a:gdLst/>
              <a:ahLst/>
              <a:cxnLst/>
              <a:rect r="r" b="b" t="t" l="l"/>
              <a:pathLst>
                <a:path h="345710" w="4930835">
                  <a:moveTo>
                    <a:pt x="0" y="0"/>
                  </a:moveTo>
                  <a:lnTo>
                    <a:pt x="4930835" y="0"/>
                  </a:lnTo>
                  <a:lnTo>
                    <a:pt x="4930835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30835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224023" y="2170723"/>
            <a:ext cx="10273720" cy="64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409" spc="3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Comment détecter ce qui est invisible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7743" y="1627417"/>
            <a:ext cx="6125046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Problématique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5765" y="1608367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14852" y="3150037"/>
            <a:ext cx="13427245" cy="405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2895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Une activité commerciale importante peut être fragmentée en :</a:t>
            </a:r>
          </a:p>
          <a:p>
            <a:pPr algn="l">
              <a:lnSpc>
                <a:spcPts val="4632"/>
              </a:lnSpc>
            </a:pPr>
            <a:r>
              <a:rPr lang="en-US" sz="2895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📦 Petit colis + 📦 Petit colis + 📦 Petit colis + 📦 Petit colis</a:t>
            </a:r>
          </a:p>
          <a:p>
            <a:pPr algn="l">
              <a:lnSpc>
                <a:spcPts val="4632"/>
              </a:lnSpc>
            </a:pPr>
            <a:r>
              <a:rPr lang="en-US" sz="2895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                                              ↓</a:t>
            </a:r>
          </a:p>
          <a:p>
            <a:pPr algn="l">
              <a:lnSpc>
                <a:spcPts val="4632"/>
              </a:lnSpc>
            </a:pPr>
            <a:r>
              <a:rPr lang="en-US" sz="2895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Chaque envoi paraît normal individuellement</a:t>
            </a:r>
          </a:p>
          <a:p>
            <a:pPr algn="l">
              <a:lnSpc>
                <a:spcPts val="4632"/>
              </a:lnSpc>
            </a:pPr>
            <a:r>
              <a:rPr lang="en-US" sz="2895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                                              ↓</a:t>
            </a:r>
          </a:p>
          <a:p>
            <a:pPr algn="l">
              <a:lnSpc>
                <a:spcPts val="4632"/>
              </a:lnSpc>
            </a:pPr>
            <a:r>
              <a:rPr lang="en-US" sz="2895" spc="26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⚠️ Mais l’ensemble peut révéler une activité suspecte</a:t>
            </a:r>
          </a:p>
          <a:p>
            <a:pPr algn="l">
              <a:lnSpc>
                <a:spcPts val="463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42139" y="7527286"/>
            <a:ext cx="17037488" cy="201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409" spc="31" b="true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Comment utiliser l’intelligence artificielle pour détecter ces signaux faibles, relier les flux entre eux et identifier les activités à risque afin d’aider la Douane à mieux cibler ses contrôles 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725" y="2375541"/>
            <a:ext cx="915323" cy="80965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1947020" y="1194282"/>
            <a:ext cx="0" cy="2116120"/>
          </a:xfrm>
          <a:prstGeom prst="line">
            <a:avLst/>
          </a:prstGeom>
          <a:ln cap="flat" w="9525">
            <a:solidFill>
              <a:srgbClr val="F7E7D7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947432" cy="1312616"/>
            <a:chOff x="0" y="0"/>
            <a:chExt cx="4990270" cy="3457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90270" cy="345710"/>
            </a:xfrm>
            <a:custGeom>
              <a:avLst/>
              <a:gdLst/>
              <a:ahLst/>
              <a:cxnLst/>
              <a:rect r="r" b="b" t="t" l="l"/>
              <a:pathLst>
                <a:path h="345710" w="4990270">
                  <a:moveTo>
                    <a:pt x="0" y="0"/>
                  </a:moveTo>
                  <a:lnTo>
                    <a:pt x="4990270" y="0"/>
                  </a:lnTo>
                  <a:lnTo>
                    <a:pt x="499027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9027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747" y="1620568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8725" y="1639618"/>
            <a:ext cx="5225357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 proposée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66055"/>
            <a:ext cx="11865945" cy="42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209" spc="2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Pour répondre à cette problématique, nous proposons </a:t>
            </a:r>
            <a:r>
              <a:rPr lang="en-US" sz="2209" spc="20" b="true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CartaGate</a:t>
            </a:r>
            <a:r>
              <a:rPr lang="en-US" sz="2209" spc="2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777127"/>
            <a:ext cx="16280881" cy="221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209" spc="20" b="true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CartaGate </a:t>
            </a:r>
            <a:r>
              <a:rPr lang="en-US" sz="2209" spc="2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croise les données douanières, e-commerce, entreprises, produits et points d’entrée afin de détecter les anomalies et les relations cachées entre les flux. L’IA génère ensuite un score de risque dynamique pour aider la Douane à prioriser les contrôles. Les dossiers vérifiés peuvent enfin être transmis à la Finance pour analyser leur impact financier et assurer leur suivi.</a:t>
            </a:r>
          </a:p>
          <a:p>
            <a:pPr algn="l">
              <a:lnSpc>
                <a:spcPts val="353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988" y="-152239"/>
            <a:ext cx="18664702" cy="1312616"/>
            <a:chOff x="0" y="0"/>
            <a:chExt cx="4915806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806" cy="345710"/>
            </a:xfrm>
            <a:custGeom>
              <a:avLst/>
              <a:gdLst/>
              <a:ahLst/>
              <a:cxnLst/>
              <a:rect r="r" b="b" t="t" l="l"/>
              <a:pathLst>
                <a:path h="345710" w="4915806">
                  <a:moveTo>
                    <a:pt x="0" y="0"/>
                  </a:moveTo>
                  <a:lnTo>
                    <a:pt x="4915806" y="0"/>
                  </a:lnTo>
                  <a:lnTo>
                    <a:pt x="4915806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15806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7414" y="2216783"/>
            <a:ext cx="16438721" cy="7616289"/>
          </a:xfrm>
          <a:custGeom>
            <a:avLst/>
            <a:gdLst/>
            <a:ahLst/>
            <a:cxnLst/>
            <a:rect r="r" b="b" t="t" l="l"/>
            <a:pathLst>
              <a:path h="7616289" w="16438721">
                <a:moveTo>
                  <a:pt x="0" y="0"/>
                </a:moveTo>
                <a:lnTo>
                  <a:pt x="16438721" y="0"/>
                </a:lnTo>
                <a:lnTo>
                  <a:pt x="16438721" y="7616290"/>
                </a:lnTo>
                <a:lnTo>
                  <a:pt x="0" y="7616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824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771" y="1503702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0750" y="1503702"/>
            <a:ext cx="626960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&amp; Workflow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3531" y="2158477"/>
            <a:ext cx="915323" cy="47625"/>
            <a:chOff x="0" y="0"/>
            <a:chExt cx="241073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12543"/>
            </a:xfrm>
            <a:custGeom>
              <a:avLst/>
              <a:gdLst/>
              <a:ahLst/>
              <a:cxnLst/>
              <a:rect r="r" b="b" t="t" l="l"/>
              <a:pathLst>
                <a:path h="12543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40249" y="9756873"/>
            <a:ext cx="937277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25230" y="3502501"/>
            <a:ext cx="8548727" cy="42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sz="2209" spc="2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Détection des opérations commerciales inhabituelles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810" y="3502501"/>
            <a:ext cx="5286460" cy="86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209" spc="20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Machine Learning – Isolation Forest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810" y="1577071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8301" y="1541088"/>
            <a:ext cx="6791246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Données &amp; Technologies IA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18860438" cy="1312616"/>
            <a:chOff x="0" y="0"/>
            <a:chExt cx="4967358" cy="345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67358" cy="345710"/>
            </a:xfrm>
            <a:custGeom>
              <a:avLst/>
              <a:gdLst/>
              <a:ahLst/>
              <a:cxnLst/>
              <a:rect r="r" b="b" t="t" l="l"/>
              <a:pathLst>
                <a:path h="345710" w="4967358">
                  <a:moveTo>
                    <a:pt x="0" y="0"/>
                  </a:moveTo>
                  <a:lnTo>
                    <a:pt x="4967358" y="0"/>
                  </a:lnTo>
                  <a:lnTo>
                    <a:pt x="4967358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67358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97679" y="2467308"/>
            <a:ext cx="17590321" cy="90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309" spc="2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Nous exploitons des données multi-sources avec des technologies d’IA pour détecter et analyser les risques.</a:t>
            </a:r>
          </a:p>
          <a:p>
            <a:pPr algn="l">
              <a:lnSpc>
                <a:spcPts val="369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-532552" y="4252261"/>
            <a:ext cx="15573477" cy="86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Anomaly Detection :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Identification des hausses soudaines, valeurs anormales et petits flux répétés</a:t>
            </a:r>
          </a:p>
          <a:p>
            <a:pPr algn="ctr">
              <a:lnSpc>
                <a:spcPts val="353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-3252641" y="5877949"/>
            <a:ext cx="20292890" cy="86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Risk Scoring : 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Combinaison des différents signaux pour calculer une priorité de vérification</a:t>
            </a:r>
          </a:p>
          <a:p>
            <a:pPr algn="ctr">
              <a:lnSpc>
                <a:spcPts val="353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-1663311" y="5009126"/>
            <a:ext cx="20292890" cy="86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GNN / Graph Neural Network :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Analyse des relations entre entreprises, produits, importations, pays et commerces</a:t>
            </a:r>
          </a:p>
          <a:p>
            <a:pPr algn="ctr">
              <a:lnSpc>
                <a:spcPts val="353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-4535800" y="6637606"/>
            <a:ext cx="21576049" cy="310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LLM : 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Expl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ication des anomalies et génération de synthèses pour l’agent Douane</a:t>
            </a:r>
          </a:p>
          <a:p>
            <a:pPr algn="ctr">
              <a:lnSpc>
                <a:spcPts val="3535"/>
              </a:lnSpc>
            </a:pPr>
          </a:p>
          <a:p>
            <a:pPr algn="ctr">
              <a:lnSpc>
                <a:spcPts val="3535"/>
              </a:lnSpc>
            </a:pP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      </a:t>
            </a: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RAG :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Recherche dans les documents/réglementations pour alimenter le Conseiller IA</a:t>
            </a:r>
          </a:p>
          <a:p>
            <a:pPr algn="ctr">
              <a:lnSpc>
                <a:spcPts val="3535"/>
              </a:lnSpc>
            </a:pPr>
          </a:p>
          <a:p>
            <a:pPr algn="ctr">
              <a:lnSpc>
                <a:spcPts val="3535"/>
              </a:lnSpc>
            </a:pP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                                               </a:t>
            </a: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b="true" sz="2209" spc="19" u="sng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IA générative / Agent IA :</a:t>
            </a:r>
            <a:r>
              <a:rPr lang="en-US" sz="2209" spc="1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Conseiller IA qui répond aux questions de l'agent à partir des données et documents disponibles</a:t>
            </a:r>
          </a:p>
          <a:p>
            <a:pPr algn="ctr">
              <a:lnSpc>
                <a:spcPts val="353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9022" y="2104459"/>
            <a:ext cx="915323" cy="80965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532" y="1523053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2084" y="1496594"/>
            <a:ext cx="5964805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Résultats attendus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-9525"/>
            <a:ext cx="19418474" cy="1312616"/>
            <a:chOff x="0" y="0"/>
            <a:chExt cx="5114331" cy="3457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4330" cy="345710"/>
            </a:xfrm>
            <a:custGeom>
              <a:avLst/>
              <a:gdLst/>
              <a:ahLst/>
              <a:cxnLst/>
              <a:rect r="r" b="b" t="t" l="l"/>
              <a:pathLst>
                <a:path h="345710" w="5114330">
                  <a:moveTo>
                    <a:pt x="0" y="0"/>
                  </a:moveTo>
                  <a:lnTo>
                    <a:pt x="5114330" y="0"/>
                  </a:lnTo>
                  <a:lnTo>
                    <a:pt x="511433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14331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1178" y="2521480"/>
            <a:ext cx="915323" cy="80965"/>
            <a:chOff x="0" y="0"/>
            <a:chExt cx="241073" cy="21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073" cy="21324"/>
            </a:xfrm>
            <a:custGeom>
              <a:avLst/>
              <a:gdLst/>
              <a:ahLst/>
              <a:cxnLst/>
              <a:rect r="r" b="b" t="t" l="l"/>
              <a:pathLst>
                <a:path h="21324" w="241073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7263" y="9756873"/>
            <a:ext cx="4710263" cy="2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b="true" sz="1309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1903298"/>
            <a:ext cx="652490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1178" y="1785558"/>
            <a:ext cx="7232822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</a:t>
            </a:r>
            <a:r>
              <a:rPr lang="en-US" b="true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6346" y="5048250"/>
            <a:ext cx="16815309" cy="143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409" spc="22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En conclusion, </a:t>
            </a:r>
            <a:r>
              <a:rPr lang="en-US" sz="2409" spc="22" b="true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CartaGate </a:t>
            </a:r>
            <a:r>
              <a:rPr lang="en-US" sz="2409" spc="22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transforme des données commerciales dispersées en une intelligence exploitable, permettant de détecter les signaux inhabituels, d’aider la Douane à ci</a:t>
            </a:r>
            <a:r>
              <a:rPr lang="en-US" sz="2409" spc="22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bler ses vérifications et de faciliter l’analyse financière, tout en gardant la décision finale entre les mains de l’humain.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0"/>
            <a:ext cx="21144025" cy="1312616"/>
            <a:chOff x="0" y="0"/>
            <a:chExt cx="5568797" cy="345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68797" cy="345710"/>
            </a:xfrm>
            <a:custGeom>
              <a:avLst/>
              <a:gdLst/>
              <a:ahLst/>
              <a:cxnLst/>
              <a:rect r="r" b="b" t="t" l="l"/>
              <a:pathLst>
                <a:path h="345710" w="5568797">
                  <a:moveTo>
                    <a:pt x="0" y="0"/>
                  </a:moveTo>
                  <a:lnTo>
                    <a:pt x="5568797" y="0"/>
                  </a:lnTo>
                  <a:lnTo>
                    <a:pt x="55687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68797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702574" y="9452214"/>
            <a:ext cx="3900936" cy="3175"/>
          </a:xfrm>
          <a:prstGeom prst="line">
            <a:avLst/>
          </a:prstGeom>
          <a:ln cap="flat" w="28575">
            <a:solidFill>
              <a:srgbClr val="F7E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081796" y="-541995"/>
            <a:ext cx="7206204" cy="10828995"/>
          </a:xfrm>
          <a:custGeom>
            <a:avLst/>
            <a:gdLst/>
            <a:ahLst/>
            <a:cxnLst/>
            <a:rect r="r" b="b" t="t" l="l"/>
            <a:pathLst>
              <a:path h="10828995" w="7206204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559" y="4597472"/>
            <a:ext cx="16749741" cy="110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13"/>
              </a:lnSpc>
            </a:pPr>
            <a:r>
              <a:rPr lang="en-US" sz="7299" spc="-145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DAHWQuZFxnQ</dc:identifier>
  <dcterms:modified xsi:type="dcterms:W3CDTF">2011-08-01T06:04:30Z</dcterms:modified>
  <cp:revision>1</cp:revision>
  <dc:title>Présentation Entreprise Agence Marketing  Professionnel Infographie Illustration Photos Moderne Formes Bleu Rose</dc:title>
</cp:coreProperties>
</file>